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7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18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8090C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A1E2E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Lima Este</c:v>
                </c:pt>
                <c:pt idx="1">
                  <c:v>Lima Sur 2</c:v>
                </c:pt>
                <c:pt idx="2">
                  <c:v>Callao</c:v>
                </c:pt>
                <c:pt idx="3">
                  <c:v>Lima Moderna</c:v>
                </c:pt>
                <c:pt idx="4">
                  <c:v>Lima Oeste</c:v>
                </c:pt>
                <c:pt idx="5">
                  <c:v>Lima Norte 1</c:v>
                </c:pt>
                <c:pt idx="6">
                  <c:v>Lima Centro</c:v>
                </c:pt>
                <c:pt idx="7">
                  <c:v>Lima Norte 2</c:v>
                </c:pt>
                <c:pt idx="8">
                  <c:v>Lima Sur 1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346</c:v>
                </c:pt>
                <c:pt idx="1">
                  <c:v>36</c:v>
                </c:pt>
                <c:pt idx="2">
                  <c:v>72</c:v>
                </c:pt>
                <c:pt idx="3">
                  <c:v>35</c:v>
                </c:pt>
                <c:pt idx="4">
                  <c:v>54</c:v>
                </c:pt>
                <c:pt idx="5">
                  <c:v>40</c:v>
                </c:pt>
                <c:pt idx="6">
                  <c:v>28</c:v>
                </c:pt>
                <c:pt idx="7">
                  <c:v>27</c:v>
                </c:pt>
                <c:pt idx="8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22-6542-BA89-87513DF5833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B2A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A1E2E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Lima Este</c:v>
                </c:pt>
                <c:pt idx="1">
                  <c:v>Lima Sur 2</c:v>
                </c:pt>
                <c:pt idx="2">
                  <c:v>Callao</c:v>
                </c:pt>
                <c:pt idx="3">
                  <c:v>Lima Moderna</c:v>
                </c:pt>
                <c:pt idx="4">
                  <c:v>Lima Oeste</c:v>
                </c:pt>
                <c:pt idx="5">
                  <c:v>Lima Norte 1</c:v>
                </c:pt>
                <c:pt idx="6">
                  <c:v>Lima Centro</c:v>
                </c:pt>
                <c:pt idx="7">
                  <c:v>Lima Norte 2</c:v>
                </c:pt>
                <c:pt idx="8">
                  <c:v>Lima Sur 1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467</c:v>
                </c:pt>
                <c:pt idx="1">
                  <c:v>79</c:v>
                </c:pt>
                <c:pt idx="2">
                  <c:v>75</c:v>
                </c:pt>
                <c:pt idx="3">
                  <c:v>63</c:v>
                </c:pt>
                <c:pt idx="4">
                  <c:v>57</c:v>
                </c:pt>
                <c:pt idx="5">
                  <c:v>52</c:v>
                </c:pt>
                <c:pt idx="6">
                  <c:v>39</c:v>
                </c:pt>
                <c:pt idx="7">
                  <c:v>32</c:v>
                </c:pt>
                <c:pt idx="8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22-6542-BA89-87513DF583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55F6E"/>
                </a:solidFill>
                <a:latin typeface="Arial"/>
              </a:defRPr>
            </a:pPr>
            <a:endParaRPr lang="es-P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5080" cap="flat">
              <a:solidFill>
                <a:srgbClr val="EBEB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F6E"/>
                </a:solidFill>
                <a:latin typeface="Arial"/>
              </a:defRPr>
            </a:pPr>
            <a:endParaRPr lang="es-PE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/>
          </a:pPr>
          <a:endParaRPr lang="es-PE"/>
        </a:p>
      </c:txPr>
    </c:legend>
    <c:plotVisOnly val="1"/>
    <c:dispBlanksAs val="span"/>
    <c:showDLblsOverMax val="1"/>
  </c:chart>
  <c:spPr>
    <a:solidFill>
      <a:srgbClr val="FAFBFD"/>
    </a:solidFill>
    <a:ln w="12700" cap="flat">
      <a:solidFill>
        <a:srgbClr val="FAFBFD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Part. 2025</c:v>
                </c:pt>
              </c:strCache>
            </c:strRef>
          </c:tx>
          <c:spPr>
            <a:solidFill>
              <a:srgbClr val="8090C0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A1E2E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Lima Este</c:v>
                </c:pt>
                <c:pt idx="1">
                  <c:v>Lima Sur 2</c:v>
                </c:pt>
                <c:pt idx="2">
                  <c:v>Callao</c:v>
                </c:pt>
                <c:pt idx="3">
                  <c:v>Lima Moderna</c:v>
                </c:pt>
                <c:pt idx="4">
                  <c:v>Lima Oeste</c:v>
                </c:pt>
                <c:pt idx="5">
                  <c:v>Lima Norte 1</c:v>
                </c:pt>
                <c:pt idx="6">
                  <c:v>Lima Centro</c:v>
                </c:pt>
                <c:pt idx="7">
                  <c:v>Lima Norte 2</c:v>
                </c:pt>
                <c:pt idx="8">
                  <c:v>Lima Sur 1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50.6</c:v>
                </c:pt>
                <c:pt idx="1">
                  <c:v>5.3</c:v>
                </c:pt>
                <c:pt idx="2">
                  <c:v>10.6</c:v>
                </c:pt>
                <c:pt idx="3">
                  <c:v>5.0999999999999996</c:v>
                </c:pt>
                <c:pt idx="4">
                  <c:v>8</c:v>
                </c:pt>
                <c:pt idx="5">
                  <c:v>5.8</c:v>
                </c:pt>
                <c:pt idx="6">
                  <c:v>4.0999999999999996</c:v>
                </c:pt>
                <c:pt idx="7">
                  <c:v>4</c:v>
                </c:pt>
                <c:pt idx="8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01-F74C-94A8-9D719D8789A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Part. 2026</c:v>
                </c:pt>
              </c:strCache>
            </c:strRef>
          </c:tx>
          <c:spPr>
            <a:solidFill>
              <a:srgbClr val="1B2A6B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A1E2E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Lima Este</c:v>
                </c:pt>
                <c:pt idx="1">
                  <c:v>Lima Sur 2</c:v>
                </c:pt>
                <c:pt idx="2">
                  <c:v>Callao</c:v>
                </c:pt>
                <c:pt idx="3">
                  <c:v>Lima Moderna</c:v>
                </c:pt>
                <c:pt idx="4">
                  <c:v>Lima Oeste</c:v>
                </c:pt>
                <c:pt idx="5">
                  <c:v>Lima Norte 1</c:v>
                </c:pt>
                <c:pt idx="6">
                  <c:v>Lima Centro</c:v>
                </c:pt>
                <c:pt idx="7">
                  <c:v>Lima Norte 2</c:v>
                </c:pt>
                <c:pt idx="8">
                  <c:v>Lima Sur 1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52.8</c:v>
                </c:pt>
                <c:pt idx="1">
                  <c:v>9</c:v>
                </c:pt>
                <c:pt idx="2">
                  <c:v>8.4</c:v>
                </c:pt>
                <c:pt idx="3">
                  <c:v>7.1</c:v>
                </c:pt>
                <c:pt idx="4">
                  <c:v>6.5</c:v>
                </c:pt>
                <c:pt idx="5">
                  <c:v>5.9</c:v>
                </c:pt>
                <c:pt idx="6">
                  <c:v>4.5</c:v>
                </c:pt>
                <c:pt idx="7">
                  <c:v>3.6</c:v>
                </c:pt>
                <c:pt idx="8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01-F74C-94A8-9D719D8789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55F6E"/>
                </a:solidFill>
                <a:latin typeface="Arial"/>
              </a:defRPr>
            </a:pPr>
            <a:endParaRPr lang="es-P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5080" cap="flat">
              <a:solidFill>
                <a:srgbClr val="EBEB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F6E"/>
                </a:solidFill>
                <a:latin typeface="Arial"/>
              </a:defRPr>
            </a:pPr>
            <a:endParaRPr lang="es-PE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/>
          </a:pPr>
          <a:endParaRPr lang="es-PE"/>
        </a:p>
      </c:txPr>
    </c:legend>
    <c:plotVisOnly val="1"/>
    <c:dispBlanksAs val="span"/>
    <c:showDLblsOverMax val="1"/>
  </c:chart>
  <c:spPr>
    <a:solidFill>
      <a:srgbClr val="FAFBFD"/>
    </a:solidFill>
    <a:ln w="12700" cap="flat">
      <a:solidFill>
        <a:srgbClr val="FAFBFD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Crecimiento %</c:v>
                </c:pt>
              </c:strCache>
            </c:strRef>
          </c:tx>
          <c:spPr>
            <a:solidFill>
              <a:srgbClr val="1A7A3C"/>
            </a:solidFill>
            <a:effectLst/>
          </c:spPr>
          <c:invertIfNegative val="0"/>
          <c:dLbls>
            <c:numFmt formatCode="\+#,##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A1E2E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Lima Sur 1</c:v>
                </c:pt>
                <c:pt idx="1">
                  <c:v>Lima Sur 2</c:v>
                </c:pt>
                <c:pt idx="2">
                  <c:v>Lima Moderna</c:v>
                </c:pt>
                <c:pt idx="3">
                  <c:v>Lima Centro</c:v>
                </c:pt>
                <c:pt idx="4">
                  <c:v>Lima Este</c:v>
                </c:pt>
                <c:pt idx="5">
                  <c:v>Lima Norte 1</c:v>
                </c:pt>
                <c:pt idx="6">
                  <c:v>Lima Norte 2</c:v>
                </c:pt>
                <c:pt idx="7">
                  <c:v>Lima Oeste</c:v>
                </c:pt>
                <c:pt idx="8">
                  <c:v>Callao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383</c:v>
                </c:pt>
                <c:pt idx="1">
                  <c:v>117</c:v>
                </c:pt>
                <c:pt idx="2">
                  <c:v>81</c:v>
                </c:pt>
                <c:pt idx="3">
                  <c:v>40</c:v>
                </c:pt>
                <c:pt idx="4">
                  <c:v>35</c:v>
                </c:pt>
                <c:pt idx="5">
                  <c:v>31</c:v>
                </c:pt>
                <c:pt idx="6">
                  <c:v>19</c:v>
                </c:pt>
                <c:pt idx="7">
                  <c:v>5</c:v>
                </c:pt>
                <c:pt idx="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33-4D45-AD4E-51B8894328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55F6E"/>
                </a:solidFill>
                <a:latin typeface="Arial"/>
              </a:defRPr>
            </a:pPr>
            <a:endParaRPr lang="es-P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3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AFBFD"/>
    </a:solidFill>
    <a:ln w="12700" cap="flat">
      <a:solidFill>
        <a:srgbClr val="FAFBFD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Lima Este</c:v>
                </c:pt>
              </c:strCache>
            </c:strRef>
          </c:tx>
          <c:spPr>
            <a:solidFill>
              <a:srgbClr val="1B2A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A1E2E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57</c:v>
                </c:pt>
                <c:pt idx="1">
                  <c:v>64</c:v>
                </c:pt>
                <c:pt idx="2">
                  <c:v>65</c:v>
                </c:pt>
                <c:pt idx="3">
                  <c:v>55</c:v>
                </c:pt>
                <c:pt idx="4">
                  <c:v>43</c:v>
                </c:pt>
                <c:pt idx="5">
                  <c:v>29</c:v>
                </c:pt>
                <c:pt idx="6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3A-F74D-8284-92115A2929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Resto de Lima</c:v>
                </c:pt>
              </c:strCache>
            </c:strRef>
          </c:tx>
          <c:spPr>
            <a:solidFill>
              <a:srgbClr val="CAD3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A1E2E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59</c:v>
                </c:pt>
                <c:pt idx="1">
                  <c:v>58</c:v>
                </c:pt>
                <c:pt idx="2">
                  <c:v>66</c:v>
                </c:pt>
                <c:pt idx="3">
                  <c:v>49</c:v>
                </c:pt>
                <c:pt idx="4">
                  <c:v>41</c:v>
                </c:pt>
                <c:pt idx="5">
                  <c:v>37</c:v>
                </c:pt>
                <c:pt idx="6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3A-F74D-8284-92115A2929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F6E"/>
                </a:solidFill>
                <a:latin typeface="Arial"/>
              </a:defRPr>
            </a:pPr>
            <a:endParaRPr lang="es-P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"/>
          <c:min val="0"/>
        </c:scaling>
        <c:delete val="0"/>
        <c:axPos val="l"/>
        <c:majorGridlines>
          <c:spPr>
            <a:ln w="5080" cap="flat">
              <a:solidFill>
                <a:srgbClr val="EBEB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F6E"/>
                </a:solidFill>
                <a:latin typeface="Arial"/>
              </a:defRPr>
            </a:pPr>
            <a:endParaRPr lang="es-PE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/>
          </a:pPr>
          <a:endParaRPr lang="es-PE"/>
        </a:p>
      </c:txPr>
    </c:legend>
    <c:plotVisOnly val="1"/>
    <c:dispBlanksAs val="span"/>
    <c:showDLblsOverMax val="1"/>
  </c:chart>
  <c:spPr>
    <a:solidFill>
      <a:srgbClr val="FAFBFD"/>
    </a:solidFill>
    <a:ln w="12700" cap="flat">
      <a:solidFill>
        <a:srgbClr val="FAFBFD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Lima Este</c:v>
                </c:pt>
              </c:strCache>
            </c:strRef>
          </c:tx>
          <c:spPr>
            <a:solidFill>
              <a:srgbClr val="1B2A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A1E2E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74</c:v>
                </c:pt>
                <c:pt idx="1">
                  <c:v>82</c:v>
                </c:pt>
                <c:pt idx="2">
                  <c:v>86</c:v>
                </c:pt>
                <c:pt idx="3">
                  <c:v>69</c:v>
                </c:pt>
                <c:pt idx="4">
                  <c:v>57</c:v>
                </c:pt>
                <c:pt idx="5">
                  <c:v>49</c:v>
                </c:pt>
                <c:pt idx="6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1C-B14D-BC4D-BF387C6F332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Resto de Lima</c:v>
                </c:pt>
              </c:strCache>
            </c:strRef>
          </c:tx>
          <c:spPr>
            <a:solidFill>
              <a:srgbClr val="1A7A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A1E2E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63</c:v>
                </c:pt>
                <c:pt idx="1">
                  <c:v>72</c:v>
                </c:pt>
                <c:pt idx="2">
                  <c:v>74</c:v>
                </c:pt>
                <c:pt idx="3">
                  <c:v>61</c:v>
                </c:pt>
                <c:pt idx="4">
                  <c:v>48</c:v>
                </c:pt>
                <c:pt idx="5">
                  <c:v>50</c:v>
                </c:pt>
                <c:pt idx="6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21C-B14D-BC4D-BF387C6F33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F6E"/>
                </a:solidFill>
                <a:latin typeface="Arial"/>
              </a:defRPr>
            </a:pPr>
            <a:endParaRPr lang="es-P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"/>
          <c:min val="0"/>
        </c:scaling>
        <c:delete val="0"/>
        <c:axPos val="l"/>
        <c:majorGridlines>
          <c:spPr>
            <a:ln w="5080" cap="flat">
              <a:solidFill>
                <a:srgbClr val="EBEB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F6E"/>
                </a:solidFill>
                <a:latin typeface="Arial"/>
              </a:defRPr>
            </a:pPr>
            <a:endParaRPr lang="es-PE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/>
          </a:pPr>
          <a:endParaRPr lang="es-PE"/>
        </a:p>
      </c:txPr>
    </c:legend>
    <c:plotVisOnly val="1"/>
    <c:dispBlanksAs val="span"/>
    <c:showDLblsOverMax val="1"/>
  </c:chart>
  <c:spPr>
    <a:solidFill>
      <a:srgbClr val="FAFBFD"/>
    </a:solidFill>
    <a:ln w="12700" cap="flat">
      <a:solidFill>
        <a:srgbClr val="FAFBFD"/>
      </a:solidFill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Venta S/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2D0-384A-A0A1-B9B4D2D6B95A}"/>
              </c:ext>
            </c:extLst>
          </c:dPt>
          <c:dPt>
            <c:idx val="1"/>
            <c:bubble3D val="0"/>
            <c:spPr>
              <a:solidFill>
                <a:srgbClr val="E099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2D0-384A-A0A1-B9B4D2D6B95A}"/>
              </c:ext>
            </c:extLst>
          </c:dPt>
          <c:dPt>
            <c:idx val="2"/>
            <c:bubble3D val="0"/>
            <c:spPr>
              <a:solidFill>
                <a:srgbClr val="1A7A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2D0-384A-A0A1-B9B4D2D6B95A}"/>
              </c:ext>
            </c:extLst>
          </c:dPt>
          <c:dPt>
            <c:idx val="3"/>
            <c:bubble3D val="0"/>
            <c:spPr>
              <a:solidFill>
                <a:srgbClr val="8090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2D0-384A-A0A1-B9B4D2D6B95A}"/>
              </c:ext>
            </c:extLst>
          </c:dPt>
          <c:dPt>
            <c:idx val="4"/>
            <c:bubble3D val="0"/>
            <c:spPr>
              <a:solidFill>
                <a:srgbClr val="B07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2D0-384A-A0A1-B9B4D2D6B95A}"/>
              </c:ext>
            </c:extLst>
          </c:dPt>
          <c:dPt>
            <c:idx val="5"/>
            <c:bubble3D val="0"/>
            <c:spPr>
              <a:solidFill>
                <a:srgbClr val="CAD3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2D0-384A-A0A1-B9B4D2D6B95A}"/>
              </c:ext>
            </c:extLst>
          </c:dPt>
          <c:dPt>
            <c:idx val="6"/>
            <c:bubble3D val="0"/>
            <c:spPr>
              <a:solidFill>
                <a:srgbClr val="B222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2D0-384A-A0A1-B9B4D2D6B95A}"/>
              </c:ext>
            </c:extLst>
          </c:dPt>
          <c:dPt>
            <c:idx val="7"/>
            <c:bubble3D val="0"/>
            <c:spPr>
              <a:solidFill>
                <a:srgbClr val="9AA7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D2D0-384A-A0A1-B9B4D2D6B95A}"/>
              </c:ext>
            </c:extLst>
          </c:dPt>
          <c:dPt>
            <c:idx val="8"/>
            <c:bubble3D val="0"/>
            <c:spPr>
              <a:solidFill>
                <a:srgbClr val="D8DEE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D2D0-384A-A0A1-B9B4D2D6B95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1A1E2E"/>
                      </a:solidFill>
                      <a:latin typeface="Arial"/>
                    </a:defRPr>
                  </a:pPr>
                  <a:endParaRPr lang="es-P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2D0-384A-A0A1-B9B4D2D6B95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1A1E2E"/>
                      </a:solidFill>
                      <a:latin typeface="Arial"/>
                    </a:defRPr>
                  </a:pPr>
                  <a:endParaRPr lang="es-P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2D0-384A-A0A1-B9B4D2D6B95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1A1E2E"/>
                      </a:solidFill>
                      <a:latin typeface="Arial"/>
                    </a:defRPr>
                  </a:pPr>
                  <a:endParaRPr lang="es-P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2D0-384A-A0A1-B9B4D2D6B95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1A1E2E"/>
                      </a:solidFill>
                      <a:latin typeface="Arial"/>
                    </a:defRPr>
                  </a:pPr>
                  <a:endParaRPr lang="es-P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2D0-384A-A0A1-B9B4D2D6B95A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1A1E2E"/>
                      </a:solidFill>
                      <a:latin typeface="Arial"/>
                    </a:defRPr>
                  </a:pPr>
                  <a:endParaRPr lang="es-P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2D0-384A-A0A1-B9B4D2D6B95A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1A1E2E"/>
                      </a:solidFill>
                      <a:latin typeface="Arial"/>
                    </a:defRPr>
                  </a:pPr>
                  <a:endParaRPr lang="es-P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2D0-384A-A0A1-B9B4D2D6B95A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1A1E2E"/>
                      </a:solidFill>
                      <a:latin typeface="Arial"/>
                    </a:defRPr>
                  </a:pPr>
                  <a:endParaRPr lang="es-P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D2D0-384A-A0A1-B9B4D2D6B95A}"/>
                </c:ext>
              </c:extLst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1A1E2E"/>
                      </a:solidFill>
                      <a:latin typeface="Arial"/>
                    </a:defRPr>
                  </a:pPr>
                  <a:endParaRPr lang="es-P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D2D0-384A-A0A1-B9B4D2D6B95A}"/>
                </c:ext>
              </c:extLst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1A1E2E"/>
                      </a:solidFill>
                      <a:latin typeface="Arial"/>
                    </a:defRPr>
                  </a:pPr>
                  <a:endParaRPr lang="es-P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D2D0-384A-A0A1-B9B4D2D6B95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Sheet1!$A$2:$A$10</c:f>
              <c:strCache>
                <c:ptCount val="9"/>
                <c:pt idx="0">
                  <c:v>Lima Este</c:v>
                </c:pt>
                <c:pt idx="1">
                  <c:v>Lima Sur 2</c:v>
                </c:pt>
                <c:pt idx="2">
                  <c:v>Callao</c:v>
                </c:pt>
                <c:pt idx="3">
                  <c:v>Lima Moderna</c:v>
                </c:pt>
                <c:pt idx="4">
                  <c:v>Lima Oeste</c:v>
                </c:pt>
                <c:pt idx="5">
                  <c:v>Lima Norte 1</c:v>
                </c:pt>
                <c:pt idx="6">
                  <c:v>Lima Centro</c:v>
                </c:pt>
                <c:pt idx="7">
                  <c:v>Lima Norte 2</c:v>
                </c:pt>
                <c:pt idx="8">
                  <c:v>Lima Sur 1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466635</c:v>
                </c:pt>
                <c:pt idx="1">
                  <c:v>79171</c:v>
                </c:pt>
                <c:pt idx="2">
                  <c:v>74533</c:v>
                </c:pt>
                <c:pt idx="3">
                  <c:v>62736</c:v>
                </c:pt>
                <c:pt idx="4">
                  <c:v>57149</c:v>
                </c:pt>
                <c:pt idx="5">
                  <c:v>51855</c:v>
                </c:pt>
                <c:pt idx="6">
                  <c:v>39434</c:v>
                </c:pt>
                <c:pt idx="7">
                  <c:v>32103</c:v>
                </c:pt>
                <c:pt idx="8">
                  <c:v>20109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D2D0-384A-A0A1-B9B4D2D6B9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solidFill>
          <a:srgbClr val="F9F9F9"/>
        </a:solidFill>
        <a:ln w="12700" cap="flat">
          <a:solidFill>
            <a:srgbClr val="F9F9F9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/>
          </a:pPr>
          <a:endParaRPr lang="es-PE"/>
        </a:p>
      </c:txPr>
    </c:legend>
    <c:plotVisOnly val="1"/>
    <c:dispBlanksAs val="span"/>
    <c:showDLblsOverMax val="1"/>
  </c:chart>
  <c:spPr>
    <a:solidFill>
      <a:srgbClr val="FAFBFD"/>
    </a:solidFill>
    <a:ln w="12700" cap="flat">
      <a:solidFill>
        <a:srgbClr val="FAFBFD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047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54680" y="256032"/>
            <a:ext cx="2834640" cy="259689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3657600"/>
            <a:ext cx="9144000" cy="1449324"/>
          </a:xfrm>
          <a:prstGeom prst="rect">
            <a:avLst/>
          </a:prstGeom>
          <a:solidFill>
            <a:srgbClr val="040C20">
              <a:alpha val="90000"/>
            </a:srgbClr>
          </a:solidFill>
          <a:ln w="12700">
            <a:solidFill>
              <a:srgbClr val="040C20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384048" y="3721608"/>
            <a:ext cx="201168" cy="137160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94944" y="369417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B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CORPORATIVO PARA DIRECTORIO · GEOGRAFÍA COMERCIAL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384048" y="393192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Idrato — Venta por Zona 2025 vs 2026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384048" y="451713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geográfico de la venta en Lima · soles, unidades y precio medio por zona · solo venta real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384048" y="475488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B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del Proyecto: Luis Vallejos · Viva Consulting Empresas · Agosto 2026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E09900"/>
          </a:solidFill>
          <a:ln w="12700">
            <a:solidFill>
              <a:srgbClr val="E099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A45"/>
          </a:solidFill>
          <a:ln w="12700">
            <a:solidFill>
              <a:srgbClr val="0F1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E09900"/>
          </a:solidFill>
          <a:ln w="12700">
            <a:solidFill>
              <a:srgbClr val="E09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502920" cy="658368"/>
          </a:xfrm>
          <a:prstGeom prst="rect">
            <a:avLst/>
          </a:prstGeom>
          <a:solidFill>
            <a:srgbClr val="FBB800"/>
          </a:solidFill>
          <a:ln w="12700">
            <a:solidFill>
              <a:srgbClr val="FBB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" y="1371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0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118872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Y COBERTURA DE DATOS · GEOGRAFÍA DE VENTA</a:t>
            </a:r>
            <a:endParaRPr lang="en-US" sz="12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109728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1A45"/>
          </a:solidFill>
          <a:ln w="12700">
            <a:solidFill>
              <a:srgbClr val="0F1A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956048"/>
            <a:ext cx="7772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CONSULTING EMPRESAS  ·  ANÁLISIS CORPORATIVO · GRUPO IDRATO · VENTA POR ZONA 2025 vs 2026 · DIRECTORIO  ·  CONFIDENCIAL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8229600" y="4956048"/>
            <a:ext cx="713232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B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1/14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E09900"/>
          </a:solidFill>
          <a:ln w="12700">
            <a:solidFill>
              <a:srgbClr val="E099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786384"/>
            <a:ext cx="8595360" cy="310896"/>
          </a:xfrm>
          <a:prstGeom prst="rect">
            <a:avLst/>
          </a:prstGeom>
          <a:solidFill>
            <a:srgbClr val="EDF1FB"/>
          </a:solidFill>
          <a:ln w="12700">
            <a:solidFill>
              <a:srgbClr val="EDF1F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" y="786384"/>
            <a:ext cx="54864" cy="310896"/>
          </a:xfrm>
          <a:prstGeom prst="rect">
            <a:avLst/>
          </a:prstGeom>
          <a:solidFill>
            <a:srgbClr val="E09900"/>
          </a:solidFill>
          <a:ln w="12700">
            <a:solidFill>
              <a:srgbClr val="E099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0624" y="78638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metodológica: cómo se asignó la zona a cada venta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0040" y="1280160"/>
            <a:ext cx="276148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" y="1280160"/>
            <a:ext cx="2761488" cy="457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8912" y="138074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38912" y="155448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Enero – Julio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38912" y="1847088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88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ventana en 2025 y 2026. 2026 al cierre real de julio. Nueve zonas de Lima Metropolitana.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3191256" y="1280160"/>
            <a:ext cx="276148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191256" y="1280160"/>
            <a:ext cx="2761488" cy="4572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10128" y="138074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310128" y="155448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Clientes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3310128" y="1847088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88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2026 incluye la zona de cada cliente. La venta total reconcilia con el dato oficial de la empresa.</a:t>
            </a:r>
            <a:endParaRPr lang="en-US" sz="880" dirty="0"/>
          </a:p>
        </p:txBody>
      </p:sp>
      <p:sp>
        <p:nvSpPr>
          <p:cNvPr id="25" name="Shape 22"/>
          <p:cNvSpPr/>
          <p:nvPr/>
        </p:nvSpPr>
        <p:spPr>
          <a:xfrm>
            <a:off x="6062472" y="1280160"/>
            <a:ext cx="276148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062472" y="1280160"/>
            <a:ext cx="2761488" cy="45720"/>
          </a:xfrm>
          <a:prstGeom prst="rect">
            <a:avLst/>
          </a:prstGeom>
          <a:solidFill>
            <a:srgbClr val="E09900"/>
          </a:solidFill>
          <a:ln w="12700">
            <a:solidFill>
              <a:srgbClr val="E099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81344" y="138074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E0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 2025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181344" y="155448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asignado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181344" y="1847088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88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no traía zona: se asignó cruzando cada cliente con su zona 2026 (RUC/nombre) y por distrito.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320040" y="2852928"/>
            <a:ext cx="85039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20040" y="2852928"/>
            <a:ext cx="54864" cy="1481328"/>
          </a:xfrm>
          <a:prstGeom prst="rect">
            <a:avLst/>
          </a:prstGeom>
          <a:solidFill>
            <a:srgbClr val="E09900"/>
          </a:solidFill>
          <a:ln w="12700">
            <a:solidFill>
              <a:srgbClr val="E099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2920" y="295351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0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LECTURA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02920" y="3200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6% de la venta 2025 (S/ 41 K) corresponde a clientes sin distrito registrado que no continuaron en 2026: figuran como “sin geolocalizar” y no se reparten entre zonas.</a:t>
            </a:r>
            <a:endParaRPr lang="en-US" sz="880" dirty="0"/>
          </a:p>
          <a:p>
            <a:pPr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crecimiento por zona puede estar levemente sobreestimado por ese 6%; las zonas grandes (Lima Este) no se ven afectadas de forma material.</a:t>
            </a:r>
            <a:endParaRPr lang="en-US" sz="880" dirty="0"/>
          </a:p>
          <a:p>
            <a:pPr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medio por zona = venta en soles / unidades del período (base 2026).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A45"/>
          </a:solidFill>
          <a:ln w="12700">
            <a:solidFill>
              <a:srgbClr val="0F1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E09900"/>
          </a:solidFill>
          <a:ln w="12700">
            <a:solidFill>
              <a:srgbClr val="E09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502920" cy="658368"/>
          </a:xfrm>
          <a:prstGeom prst="rect">
            <a:avLst/>
          </a:prstGeom>
          <a:solidFill>
            <a:srgbClr val="FBB800"/>
          </a:solidFill>
          <a:ln w="12700">
            <a:solidFill>
              <a:srgbClr val="FBB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" y="1371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0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118872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· CRECE Y CONCENTRA AÚN MÁS EN LIMA ESTE</a:t>
            </a:r>
            <a:endParaRPr lang="en-US" sz="12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109728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1A45"/>
          </a:solidFill>
          <a:ln w="12700">
            <a:solidFill>
              <a:srgbClr val="0F1A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956048"/>
            <a:ext cx="7772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CONSULTING EMPRESAS  ·  ANÁLISIS CORPORATIVO · GRUPO IDRATO · VENTA POR ZONA 2025 vs 2026 · DIRECTORIO  ·  CONFIDENCIAL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8229600" y="4956048"/>
            <a:ext cx="713232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B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2/14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E09900"/>
          </a:solidFill>
          <a:ln w="12700">
            <a:solidFill>
              <a:srgbClr val="E099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" y="786384"/>
            <a:ext cx="8503920" cy="658368"/>
          </a:xfrm>
          <a:prstGeom prst="rect">
            <a:avLst/>
          </a:prstGeom>
          <a:solidFill>
            <a:srgbClr val="0F1A45"/>
          </a:solidFill>
          <a:ln w="12700">
            <a:solidFill>
              <a:srgbClr val="0F1A4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" y="786384"/>
            <a:ext cx="73152" cy="658368"/>
          </a:xfrm>
          <a:prstGeom prst="rect">
            <a:avLst/>
          </a:prstGeom>
          <a:solidFill>
            <a:srgbClr val="FBB800"/>
          </a:solidFill>
          <a:ln w="12700">
            <a:solidFill>
              <a:srgbClr val="FBB8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82296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B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Este consolida su liderazgo: sube de 50.6% a 52.8% de participación y crece +35% (más rápido que el resto, +23%).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diversificación avanza solo en zonas emergentes puntuales (Sur 2, Moderna, Sur 1) de base pequeña.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1627632"/>
            <a:ext cx="204825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" y="1627632"/>
            <a:ext cx="2048256" cy="457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1755648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52.8%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11480" y="2212848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Lima Este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11480" y="272491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+2.2 pp de participación · +35%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2496312" y="1627632"/>
            <a:ext cx="204825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496312" y="1627632"/>
            <a:ext cx="2048256" cy="4572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587752" y="1755648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+3.6 / +2.0 pp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2587752" y="2212848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Zonas emergentes</a:t>
            </a:r>
            <a:endParaRPr lang="en-US" sz="820" dirty="0"/>
          </a:p>
        </p:txBody>
      </p:sp>
      <p:sp>
        <p:nvSpPr>
          <p:cNvPr id="24" name="Text 21"/>
          <p:cNvSpPr/>
          <p:nvPr/>
        </p:nvSpPr>
        <p:spPr>
          <a:xfrm>
            <a:off x="2587752" y="272491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Sur 2 y Moderna ganan share</a:t>
            </a:r>
            <a:endParaRPr lang="en-US" sz="720" dirty="0"/>
          </a:p>
        </p:txBody>
      </p:sp>
      <p:sp>
        <p:nvSpPr>
          <p:cNvPr id="25" name="Shape 22"/>
          <p:cNvSpPr/>
          <p:nvPr/>
        </p:nvSpPr>
        <p:spPr>
          <a:xfrm>
            <a:off x="4672584" y="1627632"/>
            <a:ext cx="204825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672584" y="1627632"/>
            <a:ext cx="2048256" cy="4572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64024" y="1755648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-2.2 / -1.5 pp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4764024" y="2212848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Zonas rezagadas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4764024" y="272491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Callao y Lima Oeste ceden share</a:t>
            </a:r>
            <a:endParaRPr lang="en-US" sz="720" dirty="0"/>
          </a:p>
        </p:txBody>
      </p:sp>
      <p:sp>
        <p:nvSpPr>
          <p:cNvPr id="30" name="Shape 27"/>
          <p:cNvSpPr/>
          <p:nvPr/>
        </p:nvSpPr>
        <p:spPr>
          <a:xfrm>
            <a:off x="6848856" y="1627632"/>
            <a:ext cx="204825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48856" y="1627632"/>
            <a:ext cx="2048256" cy="45720"/>
          </a:xfrm>
          <a:prstGeom prst="rect">
            <a:avLst/>
          </a:prstGeom>
          <a:solidFill>
            <a:srgbClr val="E09900"/>
          </a:solidFill>
          <a:ln w="12700">
            <a:solidFill>
              <a:srgbClr val="E099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40296" y="1755648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6 a 16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6940296" y="2212848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Precio medio/u</a:t>
            </a:r>
            <a:endParaRPr lang="en-US" sz="820" dirty="0"/>
          </a:p>
        </p:txBody>
      </p:sp>
      <p:sp>
        <p:nvSpPr>
          <p:cNvPr id="34" name="Text 31"/>
          <p:cNvSpPr/>
          <p:nvPr/>
        </p:nvSpPr>
        <p:spPr>
          <a:xfrm>
            <a:off x="6940296" y="272491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vs zonas premium</a:t>
            </a:r>
            <a:endParaRPr lang="en-US" sz="720" dirty="0"/>
          </a:p>
        </p:txBody>
      </p:sp>
      <p:sp>
        <p:nvSpPr>
          <p:cNvPr id="35" name="Shape 32"/>
          <p:cNvSpPr/>
          <p:nvPr/>
        </p:nvSpPr>
        <p:spPr>
          <a:xfrm>
            <a:off x="320040" y="3145536"/>
            <a:ext cx="8503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20040" y="3145536"/>
            <a:ext cx="54864" cy="118872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02920" y="32461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HABILITA ESTA LECTURA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49300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concentración en un solo corredor (Lima Este = SJL, Ate, Chaclacayo, Lurigancho) no bajó: subió +2.2 pp. Es la fortaleza del negocio y, a la vez, su mayor riesgo. La decisión de fondo: proteger Lima Este, acelerar deliberadamente las zonas emergentes y reactivar Callao y Lima Oeste para diversificar el riesgo geográfico.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0" y="182880"/>
            <a:ext cx="5760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E8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457200" y="1737360"/>
            <a:ext cx="73152" cy="16459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487168"/>
            <a:ext cx="3474720" cy="36576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19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de Ventas por Zona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30906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se vende, cuánto creció cada zona y cómo se reparte la concentración geográfica.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109728"/>
            <a:ext cx="438912" cy="43891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1A45"/>
          </a:solidFill>
          <a:ln w="12700">
            <a:solidFill>
              <a:srgbClr val="0F1A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4956048"/>
            <a:ext cx="7772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CONSULTING EMPRESAS  ·  ANÁLISIS CORPORATIVO · GRUPO IDRATO · VENTA POR ZONA 2025 vs 2026 · DIRECTORIO  ·  CONFIDENCIAL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8229600" y="4956048"/>
            <a:ext cx="713232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B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3/14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E09900"/>
          </a:solidFill>
          <a:ln w="12700">
            <a:solidFill>
              <a:srgbClr val="E099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"/>
            <a:ext cx="256032" cy="65836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109728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6400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Base de Datos de Clientes · venta real por zona · Ene–Jul (S/ miles)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11480" y="246888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Este domina y crece; el resto de zonas, más pequeñas, es donde aparecen los mayores saltos relativos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6032" y="708660"/>
            <a:ext cx="8887968" cy="18288"/>
          </a:xfrm>
          <a:prstGeom prst="rect">
            <a:avLst/>
          </a:prstGeom>
          <a:solidFill>
            <a:srgbClr val="CAD3E8"/>
          </a:solidFill>
          <a:ln w="12700">
            <a:solidFill>
              <a:srgbClr val="CAD3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5020056"/>
            <a:ext cx="9144000" cy="18288"/>
          </a:xfrm>
          <a:prstGeom prst="rect">
            <a:avLst/>
          </a:prstGeom>
          <a:solidFill>
            <a:srgbClr val="CAD3E8"/>
          </a:solidFill>
          <a:ln w="12700">
            <a:solidFill>
              <a:srgbClr val="CAD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5029200"/>
            <a:ext cx="685800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Consulting Empresas · Confidencial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8321040" y="5029200"/>
            <a:ext cx="713232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· Ene–Jul</a:t>
            </a:r>
            <a:endParaRPr lang="en-US" sz="7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365760" y="914400"/>
          <a:ext cx="84124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/>
          <p:cNvSpPr/>
          <p:nvPr/>
        </p:nvSpPr>
        <p:spPr>
          <a:xfrm>
            <a:off x="365760" y="4645152"/>
            <a:ext cx="8412480" cy="292608"/>
          </a:xfrm>
          <a:prstGeom prst="rect">
            <a:avLst/>
          </a:prstGeom>
          <a:solidFill>
            <a:srgbClr val="EDF1FB"/>
          </a:solidFill>
          <a:ln w="12700">
            <a:solidFill>
              <a:srgbClr val="EDF1F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5488" y="4645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Este pasó de S/ 346 K a S/ 467 K (+35%) y sigue siendo, por lejos, la zona más grande. Lima Sur 2, Moderna y Sur 1 crecen a mayor ritmo relativo, pero desde bases pequeñas: aún no mueven la aguja de la concentración.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A45"/>
          </a:solidFill>
          <a:ln w="12700">
            <a:solidFill>
              <a:srgbClr val="0F1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E09900"/>
          </a:solidFill>
          <a:ln w="12700">
            <a:solidFill>
              <a:srgbClr val="E09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502920" cy="658368"/>
          </a:xfrm>
          <a:prstGeom prst="rect">
            <a:avLst/>
          </a:prstGeom>
          <a:solidFill>
            <a:srgbClr val="FBB800"/>
          </a:solidFill>
          <a:ln w="12700">
            <a:solidFill>
              <a:srgbClr val="FBB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" y="1371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0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118872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POR ZONA · VENTA, CRECIMIENTO, VOLUMEN Y PRECIO MEDIO</a:t>
            </a:r>
            <a:endParaRPr lang="en-US" sz="12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109728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1A45"/>
          </a:solidFill>
          <a:ln w="12700">
            <a:solidFill>
              <a:srgbClr val="0F1A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956048"/>
            <a:ext cx="7772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CONSULTING EMPRESAS  ·  ANÁLISIS CORPORATIVO · GRUPO IDRATO · VENTA POR ZONA 2025 vs 2026 · DIRECTORIO  ·  CONFIDENCIAL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8229600" y="4956048"/>
            <a:ext cx="713232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B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4/14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E09900"/>
          </a:solidFill>
          <a:ln w="12700">
            <a:solidFill>
              <a:srgbClr val="E099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786384"/>
            <a:ext cx="8595360" cy="310896"/>
          </a:xfrm>
          <a:prstGeom prst="rect">
            <a:avLst/>
          </a:prstGeom>
          <a:solidFill>
            <a:srgbClr val="EDF1FB"/>
          </a:solidFill>
          <a:ln w="12700">
            <a:solidFill>
              <a:srgbClr val="EDF1F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" y="786384"/>
            <a:ext cx="54864" cy="310896"/>
          </a:xfrm>
          <a:prstGeom prst="rect">
            <a:avLst/>
          </a:prstGeom>
          <a:solidFill>
            <a:srgbClr val="E09900"/>
          </a:solidFill>
          <a:ln w="12700">
            <a:solidFill>
              <a:srgbClr val="E099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0624" y="78638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foto completa de la geografía comercial en una tabla</a:t>
            </a:r>
            <a:endParaRPr lang="en-US" sz="9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43584"/>
          <a:ext cx="7543800" cy="290779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23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Zona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S/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S/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Part. 25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Part. 26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Und. 26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medio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Lima Este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345,785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466,635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+35%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50.6%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52.8%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59,825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7.80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Lima Sur 2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36,466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79,171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+117%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6,636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11.93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Callao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72,498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74,533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B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B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11,307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6.59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Lima Moderna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34,671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62,736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+81%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3,879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16.17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Lima Oeste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54,434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57,149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B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B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9,008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6.34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Lima Norte 1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39,518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51,855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+31%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6,662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7.78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Lima Centro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28,182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39,434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3,389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11.64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Lima Norte 2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27,072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32,103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3,662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8.77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Lima Sur 1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4,163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20,109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+383%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1A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1,468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13.70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dirty="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geolocalizar (2025)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41,075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dirty="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dirty="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40" b="1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b="1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683,865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b="1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883,723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+29%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b="1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105,836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40" b="1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8.35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320040" y="457200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0" i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Ene–Jul en soles. Participación = venta de la zona / venta total del año (2025 incluye 6% sin zona registrada). Precio medio = soles/unidades (2026).</a:t>
            </a:r>
            <a:endParaRPr lang="en-US" sz="7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"/>
            <a:ext cx="256032" cy="65836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109728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6400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Base de Datos de Clientes · participación de cada zona en la venta total del año · Ene–Jul (%)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11480" y="246888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Este consolida su liderazgo: sube de 50.6% a 52.8% de participación; la diversificación avanza solo en pocas zonas emergentes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6032" y="708660"/>
            <a:ext cx="8887968" cy="18288"/>
          </a:xfrm>
          <a:prstGeom prst="rect">
            <a:avLst/>
          </a:prstGeom>
          <a:solidFill>
            <a:srgbClr val="CAD3E8"/>
          </a:solidFill>
          <a:ln w="12700">
            <a:solidFill>
              <a:srgbClr val="CAD3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5020056"/>
            <a:ext cx="9144000" cy="18288"/>
          </a:xfrm>
          <a:prstGeom prst="rect">
            <a:avLst/>
          </a:prstGeom>
          <a:solidFill>
            <a:srgbClr val="CAD3E8"/>
          </a:solidFill>
          <a:ln w="12700">
            <a:solidFill>
              <a:srgbClr val="CAD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5029200"/>
            <a:ext cx="685800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Consulting Empresas · Confidencial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8321040" y="5029200"/>
            <a:ext cx="713232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%</a:t>
            </a:r>
            <a:endParaRPr lang="en-US" sz="7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365760" y="914400"/>
          <a:ext cx="84124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/>
          <p:cNvSpPr/>
          <p:nvPr/>
        </p:nvSpPr>
        <p:spPr>
          <a:xfrm>
            <a:off x="365760" y="4645152"/>
            <a:ext cx="8412480" cy="292608"/>
          </a:xfrm>
          <a:prstGeom prst="rect">
            <a:avLst/>
          </a:prstGeom>
          <a:solidFill>
            <a:srgbClr val="EDF1FB"/>
          </a:solidFill>
          <a:ln w="12700">
            <a:solidFill>
              <a:srgbClr val="EDF1F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5488" y="4645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en puntos 2025→2026: Lima Sur 2 +3.6 pp, Lima Moderna +2.0 pp y Lima Este +2.2 pp (ganan); Callao –2.2 pp y Lima Oeste –1.5 pp (ceden). Nota: en 2025 un 6% quedó sin zona registrada.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"/>
            <a:ext cx="256032" cy="65836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109728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6400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Base de Datos de Clientes · variación de venta por zona 2025→2026 (%)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11480" y="246888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crecimiento es geográficamente amplio: 7 de 9 zonas crecen a doble o triple dígito; solo Callao y Lima Oeste se estancan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6032" y="708660"/>
            <a:ext cx="8887968" cy="18288"/>
          </a:xfrm>
          <a:prstGeom prst="rect">
            <a:avLst/>
          </a:prstGeom>
          <a:solidFill>
            <a:srgbClr val="CAD3E8"/>
          </a:solidFill>
          <a:ln w="12700">
            <a:solidFill>
              <a:srgbClr val="CAD3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5020056"/>
            <a:ext cx="9144000" cy="18288"/>
          </a:xfrm>
          <a:prstGeom prst="rect">
            <a:avLst/>
          </a:prstGeom>
          <a:solidFill>
            <a:srgbClr val="CAD3E8"/>
          </a:solidFill>
          <a:ln w="12700">
            <a:solidFill>
              <a:srgbClr val="CAD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5029200"/>
            <a:ext cx="685800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Consulting Empresas · Confidencial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8321040" y="5029200"/>
            <a:ext cx="713232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· % venta</a:t>
            </a:r>
            <a:endParaRPr lang="en-US" sz="7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365760" y="914400"/>
          <a:ext cx="84124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/>
          <p:cNvSpPr/>
          <p:nvPr/>
        </p:nvSpPr>
        <p:spPr>
          <a:xfrm>
            <a:off x="365760" y="4645152"/>
            <a:ext cx="8412480" cy="292608"/>
          </a:xfrm>
          <a:prstGeom prst="rect">
            <a:avLst/>
          </a:prstGeom>
          <a:solidFill>
            <a:srgbClr val="EDF1FB"/>
          </a:solidFill>
          <a:ln w="12700">
            <a:solidFill>
              <a:srgbClr val="EDF1F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5488" y="4645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Sur 1 (+383%) parte de una base muy baja (S/ 4 K → 20 K); el dato robusto son Lima Sur 2 (+117%) y Lima Moderna (+81%), que ya mueven volumen relevante. Callao y Lima Oeste piden atención comercial.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A45"/>
          </a:solidFill>
          <a:ln w="12700">
            <a:solidFill>
              <a:srgbClr val="0F1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E09900"/>
          </a:solidFill>
          <a:ln w="12700">
            <a:solidFill>
              <a:srgbClr val="E09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502920" cy="658368"/>
          </a:xfrm>
          <a:prstGeom prst="rect">
            <a:avLst/>
          </a:prstGeom>
          <a:solidFill>
            <a:srgbClr val="FBB800"/>
          </a:solidFill>
          <a:ln w="12700">
            <a:solidFill>
              <a:srgbClr val="FBB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" y="1371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0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118872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MENSUAL · LIMA ESTE vs RESTO DE LIMA</a:t>
            </a:r>
            <a:endParaRPr lang="en-US" sz="12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109728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1A45"/>
          </a:solidFill>
          <a:ln w="12700">
            <a:solidFill>
              <a:srgbClr val="0F1A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956048"/>
            <a:ext cx="7772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CONSULTING EMPRESAS  ·  ANÁLISIS CORPORATIVO · GRUPO IDRATO · VENTA POR ZONA 2025 vs 2026 · DIRECTORIO  ·  CONFIDENCIAL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8229600" y="4956048"/>
            <a:ext cx="713232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B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5/14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E09900"/>
          </a:solidFill>
          <a:ln w="12700">
            <a:solidFill>
              <a:srgbClr val="E099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786384"/>
            <a:ext cx="8595360" cy="310896"/>
          </a:xfrm>
          <a:prstGeom prst="rect">
            <a:avLst/>
          </a:prstGeom>
          <a:solidFill>
            <a:srgbClr val="EDF1FB"/>
          </a:solidFill>
          <a:ln w="12700">
            <a:solidFill>
              <a:srgbClr val="EDF1F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" y="786384"/>
            <a:ext cx="54864" cy="310896"/>
          </a:xfrm>
          <a:prstGeom prst="rect">
            <a:avLst/>
          </a:prstGeom>
          <a:solidFill>
            <a:srgbClr val="E09900"/>
          </a:solidFill>
          <a:ln w="12700">
            <a:solidFill>
              <a:srgbClr val="E099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0624" y="78638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Este lidera todo el semestre; solo en el valle de invierno (jun–jul) el resto de Lima lo iguala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57200" y="128016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(S/ miles)</a:t>
            </a:r>
            <a:endParaRPr lang="en-US" sz="95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320040" y="1536192"/>
          <a:ext cx="420624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 13"/>
          <p:cNvSpPr/>
          <p:nvPr/>
        </p:nvSpPr>
        <p:spPr>
          <a:xfrm>
            <a:off x="4754880" y="128016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(S/ miles)</a:t>
            </a:r>
            <a:endParaRPr lang="en-US" sz="950" dirty="0"/>
          </a:p>
        </p:txBody>
      </p:sp>
      <p:graphicFrame>
        <p:nvGraphicFramePr>
          <p:cNvPr id="18" name="Chart 1"/>
          <p:cNvGraphicFramePr/>
          <p:nvPr/>
        </p:nvGraphicFramePr>
        <p:xfrm>
          <a:off x="4617720" y="1536192"/>
          <a:ext cx="420624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9" name="Shape 14"/>
          <p:cNvSpPr/>
          <p:nvPr/>
        </p:nvSpPr>
        <p:spPr>
          <a:xfrm>
            <a:off x="320040" y="4160520"/>
            <a:ext cx="276148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4160520"/>
            <a:ext cx="2761488" cy="457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11480" y="428853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346 → 467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411480" y="474573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Este Ene–Jul  ·  +35%</a:t>
            </a:r>
            <a:endParaRPr lang="en-US" sz="820" dirty="0"/>
          </a:p>
        </p:txBody>
      </p:sp>
      <p:sp>
        <p:nvSpPr>
          <p:cNvPr id="23" name="Shape 18"/>
          <p:cNvSpPr/>
          <p:nvPr/>
        </p:nvSpPr>
        <p:spPr>
          <a:xfrm>
            <a:off x="3191256" y="4160520"/>
            <a:ext cx="276148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191256" y="4160520"/>
            <a:ext cx="2761488" cy="4572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282696" y="428853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338 → 417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3282696" y="474573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 de Lima  ·  +23%</a:t>
            </a:r>
            <a:endParaRPr lang="en-US" sz="820" dirty="0"/>
          </a:p>
        </p:txBody>
      </p:sp>
      <p:sp>
        <p:nvSpPr>
          <p:cNvPr id="27" name="Shape 22"/>
          <p:cNvSpPr/>
          <p:nvPr/>
        </p:nvSpPr>
        <p:spPr>
          <a:xfrm>
            <a:off x="6062472" y="4160520"/>
            <a:ext cx="276148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062472" y="4160520"/>
            <a:ext cx="2761488" cy="4572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153912" y="428853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 vs +23%</a:t>
            </a:r>
            <a:endParaRPr lang="en-US" sz="2000" dirty="0"/>
          </a:p>
        </p:txBody>
      </p:sp>
      <p:sp>
        <p:nvSpPr>
          <p:cNvPr id="30" name="Text 25"/>
          <p:cNvSpPr/>
          <p:nvPr/>
        </p:nvSpPr>
        <p:spPr>
          <a:xfrm>
            <a:off x="6153912" y="474573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Este crece más rápido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"/>
            <a:ext cx="256032" cy="65836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109728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6400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Base de Datos de Clientes 2026 · participación de venta por zona · Ene–Jul (S/)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11480" y="246888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la mitad del negocio depende de un solo corredor: Lima Este concentra el 53% de toda la venta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6032" y="708660"/>
            <a:ext cx="8887968" cy="18288"/>
          </a:xfrm>
          <a:prstGeom prst="rect">
            <a:avLst/>
          </a:prstGeom>
          <a:solidFill>
            <a:srgbClr val="CAD3E8"/>
          </a:solidFill>
          <a:ln w="12700">
            <a:solidFill>
              <a:srgbClr val="CAD3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5020056"/>
            <a:ext cx="9144000" cy="18288"/>
          </a:xfrm>
          <a:prstGeom prst="rect">
            <a:avLst/>
          </a:prstGeom>
          <a:solidFill>
            <a:srgbClr val="CAD3E8"/>
          </a:solidFill>
          <a:ln w="12700">
            <a:solidFill>
              <a:srgbClr val="CAD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5029200"/>
            <a:ext cx="685800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Consulting Empresas · Confidencial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8321040" y="5029200"/>
            <a:ext cx="713232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2026 · S/ 884 K</a:t>
            </a:r>
            <a:endParaRPr lang="en-US" sz="7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274320" y="914400"/>
          <a:ext cx="45720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/>
          <p:cNvSpPr/>
          <p:nvPr/>
        </p:nvSpPr>
        <p:spPr>
          <a:xfrm>
            <a:off x="5120640" y="1051560"/>
            <a:ext cx="3566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120640" y="1051560"/>
            <a:ext cx="3566160" cy="4572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239512" y="1152144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5239512" y="1325880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en Lima Este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239512" y="1618488"/>
            <a:ext cx="3328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82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 en un corredor (SJL, Ate, Chaclacayo, Lurigancho). Una disrupción logística ahí golpea a todo el negocio.</a:t>
            </a:r>
            <a:endParaRPr lang="en-US" sz="820" dirty="0"/>
          </a:p>
        </p:txBody>
      </p:sp>
      <p:sp>
        <p:nvSpPr>
          <p:cNvPr id="17" name="Shape 13"/>
          <p:cNvSpPr/>
          <p:nvPr/>
        </p:nvSpPr>
        <p:spPr>
          <a:xfrm>
            <a:off x="5120640" y="2103120"/>
            <a:ext cx="3566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120640" y="2103120"/>
            <a:ext cx="3566160" cy="4572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239512" y="2203704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5239512" y="2377440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premium por desarrollar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239512" y="2670048"/>
            <a:ext cx="3328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82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Moderna (S/ 16.2/u), Sur 1 (13.7) y Centro (11.6) venden a mayor precio: margen a escalar.</a:t>
            </a:r>
            <a:endParaRPr lang="en-US" sz="820" dirty="0"/>
          </a:p>
        </p:txBody>
      </p:sp>
      <p:sp>
        <p:nvSpPr>
          <p:cNvPr id="22" name="Shape 18"/>
          <p:cNvSpPr/>
          <p:nvPr/>
        </p:nvSpPr>
        <p:spPr>
          <a:xfrm>
            <a:off x="5120640" y="3154680"/>
            <a:ext cx="3566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120640" y="3154680"/>
            <a:ext cx="3566160" cy="4572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239512" y="3255264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5239512" y="3429000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concentración aumentó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5239512" y="3721608"/>
            <a:ext cx="3328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82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Este subió +2.2 pp de participación y creció más rápido (+35%) que el resto (+23%). Diversificar es la tarea pendiente.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0" y="182880"/>
            <a:ext cx="5760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E8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457200" y="1737360"/>
            <a:ext cx="73152" cy="164592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487168"/>
            <a:ext cx="3474720" cy="36576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19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para el Directorio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30906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muestra la geografía comercial y las decisiones que habilita.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109728"/>
            <a:ext cx="438912" cy="43891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1A45"/>
          </a:solidFill>
          <a:ln w="12700">
            <a:solidFill>
              <a:srgbClr val="0F1A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4956048"/>
            <a:ext cx="7772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CONSULTING EMPRESAS  ·  ANÁLISIS CORPORATIVO · GRUPO IDRATO · VENTA POR ZONA 2025 vs 2026 · DIRECTORIO  ·  CONFIDENCIAL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8229600" y="4956048"/>
            <a:ext cx="713232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B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6/14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E09900"/>
          </a:solidFill>
          <a:ln w="12700">
            <a:solidFill>
              <a:srgbClr val="E0990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A45"/>
          </a:solidFill>
          <a:ln w="12700">
            <a:solidFill>
              <a:srgbClr val="0F1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E09900"/>
          </a:solidFill>
          <a:ln w="12700">
            <a:solidFill>
              <a:srgbClr val="E09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502920" cy="658368"/>
          </a:xfrm>
          <a:prstGeom prst="rect">
            <a:avLst/>
          </a:prstGeom>
          <a:solidFill>
            <a:srgbClr val="FBB800"/>
          </a:solidFill>
          <a:ln w="12700">
            <a:solidFill>
              <a:srgbClr val="FBB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" y="1371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0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118872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· LO QUE MUESTRA LA GEOGRAFÍA DE VENTA</a:t>
            </a:r>
            <a:endParaRPr lang="en-US" sz="12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109728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1A45"/>
          </a:solidFill>
          <a:ln w="12700">
            <a:solidFill>
              <a:srgbClr val="0F1A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956048"/>
            <a:ext cx="7772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CONSULTING EMPRESAS  ·  ANÁLISIS CORPORATIVO · GRUPO IDRATO · VENTA POR ZONA 2025 vs 2026 · DIRECTORIO  ·  CONFIDENCIAL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8229600" y="4956048"/>
            <a:ext cx="713232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B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7/14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E09900"/>
          </a:solidFill>
          <a:ln w="12700">
            <a:solidFill>
              <a:srgbClr val="E099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786384"/>
            <a:ext cx="8595360" cy="310896"/>
          </a:xfrm>
          <a:prstGeom prst="rect">
            <a:avLst/>
          </a:prstGeom>
          <a:solidFill>
            <a:srgbClr val="EDF1FB"/>
          </a:solidFill>
          <a:ln w="12700">
            <a:solidFill>
              <a:srgbClr val="EDF1F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" y="786384"/>
            <a:ext cx="54864" cy="310896"/>
          </a:xfrm>
          <a:prstGeom prst="rect">
            <a:avLst/>
          </a:prstGeom>
          <a:solidFill>
            <a:srgbClr val="E09900"/>
          </a:solidFill>
          <a:ln w="12700">
            <a:solidFill>
              <a:srgbClr val="E099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0624" y="78638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hechos verificables sobre la venta por zona Ene–Jul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0040" y="1243584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" y="1243584"/>
            <a:ext cx="2743200" cy="4572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8912" y="1344168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CONCENTRACIÓN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38912" y="1517904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Subió a 52.8%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38912" y="1810512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Este pasó de 50.6% a 52.8% (+2.2 pp) y crece más rápido que el resto (+35% vs +23%). Fortaleza y riesgo a la vez.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3200400" y="1243584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00400" y="1243584"/>
            <a:ext cx="2743200" cy="4572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19272" y="1344168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EMERGENTES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319272" y="1517904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 terreno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319272" y="1810512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Sur 2 (+117%), Moderna (+81%) y Sur 1 (+383%) ganan participación, pero desde bases pequeñas: la expansión recién empieza.</a:t>
            </a:r>
            <a:endParaRPr lang="en-US" sz="860" dirty="0"/>
          </a:p>
        </p:txBody>
      </p:sp>
      <p:sp>
        <p:nvSpPr>
          <p:cNvPr id="25" name="Shape 22"/>
          <p:cNvSpPr/>
          <p:nvPr/>
        </p:nvSpPr>
        <p:spPr>
          <a:xfrm>
            <a:off x="6080760" y="1243584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080760" y="1243584"/>
            <a:ext cx="2743200" cy="4572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99632" y="1344168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REZAGADAS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199632" y="1517904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Callao y Lima Oeste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199632" y="1810512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Crecen +3% y +5% y pierden participación. Zonas con potencial desatendido.</a:t>
            </a:r>
            <a:endParaRPr lang="en-US" sz="860" dirty="0"/>
          </a:p>
        </p:txBody>
      </p:sp>
      <p:sp>
        <p:nvSpPr>
          <p:cNvPr id="30" name="Shape 27"/>
          <p:cNvSpPr/>
          <p:nvPr/>
        </p:nvSpPr>
        <p:spPr>
          <a:xfrm>
            <a:off x="320040" y="2487168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20040" y="2487168"/>
            <a:ext cx="2743200" cy="45720"/>
          </a:xfrm>
          <a:prstGeom prst="rect">
            <a:avLst/>
          </a:prstGeom>
          <a:solidFill>
            <a:srgbClr val="E09900"/>
          </a:solidFill>
          <a:ln w="12700">
            <a:solidFill>
              <a:srgbClr val="E099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38912" y="2587752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E0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VALOR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38912" y="2761488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premium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38912" y="3054096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Moderna, Sur 1 y Centro venden a S/ 12–16 por unidad, muy por encima del promedio (S/ 8.3).</a:t>
            </a:r>
            <a:endParaRPr lang="en-US" sz="860" dirty="0"/>
          </a:p>
        </p:txBody>
      </p:sp>
      <p:sp>
        <p:nvSpPr>
          <p:cNvPr id="35" name="Shape 32"/>
          <p:cNvSpPr/>
          <p:nvPr/>
        </p:nvSpPr>
        <p:spPr>
          <a:xfrm>
            <a:off x="3200400" y="2487168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200400" y="2487168"/>
            <a:ext cx="2743200" cy="457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319272" y="2587752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VOLUMEN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3319272" y="2761488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Este mueve el litraje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3319272" y="3054096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86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de las unidades salen de Lima Este a menor precio (S/ 7.8): es el canal de volumen/distribución.</a:t>
            </a:r>
            <a:endParaRPr lang="en-US" sz="860" dirty="0"/>
          </a:p>
        </p:txBody>
      </p:sp>
      <p:sp>
        <p:nvSpPr>
          <p:cNvPr id="40" name="Shape 37"/>
          <p:cNvSpPr/>
          <p:nvPr/>
        </p:nvSpPr>
        <p:spPr>
          <a:xfrm>
            <a:off x="6080760" y="2487168"/>
            <a:ext cx="2743200" cy="1170432"/>
          </a:xfrm>
          <a:prstGeom prst="rect">
            <a:avLst/>
          </a:prstGeom>
          <a:solidFill>
            <a:srgbClr val="0F1A45"/>
          </a:solidFill>
          <a:ln w="12700">
            <a:solidFill>
              <a:srgbClr val="0F1A4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236208" y="261518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B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FRASE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6236208" y="2871216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negocio crece fuerte, pero concentrándose aún más en Lima Este. Diversificar geográficamente es la prioridad para gestionar el riesgo.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A45"/>
          </a:solidFill>
          <a:ln w="12700">
            <a:solidFill>
              <a:srgbClr val="0F1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E09900"/>
          </a:solidFill>
          <a:ln w="12700">
            <a:solidFill>
              <a:srgbClr val="E09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502920" cy="658368"/>
          </a:xfrm>
          <a:prstGeom prst="rect">
            <a:avLst/>
          </a:prstGeom>
          <a:solidFill>
            <a:srgbClr val="FBB800"/>
          </a:solidFill>
          <a:ln w="12700">
            <a:solidFill>
              <a:srgbClr val="FBB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" y="1371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0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118872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DECISIONES · ESTRATEGIA GEOGRÁFICA</a:t>
            </a:r>
            <a:endParaRPr lang="en-US" sz="12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109728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1A45"/>
          </a:solidFill>
          <a:ln w="12700">
            <a:solidFill>
              <a:srgbClr val="0F1A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956048"/>
            <a:ext cx="7772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CONSULTING EMPRESAS  ·  ANÁLISIS CORPORATIVO · GRUPO IDRATO · VENTA POR ZONA 2025 vs 2026 · DIRECTORIO  ·  CONFIDENCIAL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8229600" y="4956048"/>
            <a:ext cx="713232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B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8/14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E09900"/>
          </a:solidFill>
          <a:ln w="12700">
            <a:solidFill>
              <a:srgbClr val="E099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786384"/>
            <a:ext cx="8595360" cy="310896"/>
          </a:xfrm>
          <a:prstGeom prst="rect">
            <a:avLst/>
          </a:prstGeom>
          <a:solidFill>
            <a:srgbClr val="EDF1FB"/>
          </a:solidFill>
          <a:ln w="12700">
            <a:solidFill>
              <a:srgbClr val="EDF1F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" y="786384"/>
            <a:ext cx="54864" cy="310896"/>
          </a:xfrm>
          <a:prstGeom prst="rect">
            <a:avLst/>
          </a:prstGeom>
          <a:solidFill>
            <a:srgbClr val="E09900"/>
          </a:solidFill>
          <a:ln w="12700">
            <a:solidFill>
              <a:srgbClr val="E099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0624" y="78638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basadas exclusivamente en la venta real por zona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57200" y="1298448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96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Lima Este: es el 53% del negocio. Asegurar capacidad logística y nivel de servicio ahí es la prioridad de continuidad — cualquier falla golpea a toda la empresa.</a:t>
            </a:r>
            <a:endParaRPr lang="en-US" sz="96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96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Acelerar las zonas emergentes (Lima Sur 2, Moderna, Centro, Norte 1): ya crecen a doble dígito. Reforzar ruteo y fuerza comercial para consolidar el segundo motor.</a:t>
            </a:r>
            <a:endParaRPr lang="en-US" sz="96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96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Reactivar Callao y Lima Oeste: crecen casi plano y pierden peso. Diagnóstico comercial de por qué se estancaron y plan de recuperación.</a:t>
            </a:r>
            <a:endParaRPr lang="en-US" sz="96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96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valor en zonas premium: Lima Moderna, Sur 1 y Centro venden a S/ 12–16/u. Empujar caja de agua y corporativo ahí eleva el margen del mix.</a:t>
            </a:r>
            <a:endParaRPr lang="en-US" sz="96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96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la dependencia de un corredor: fijar una meta de participación de las zonas no-Este (hoy 47%) para gestionar el riesgo de concentración.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457200" y="444398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geográfico de venta · solo venta real · Viva Consulting Empresas · Gerencia General Externa (VIVA-GEX™) · Grupo Idrato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1852</Words>
  <Application>Microsoft Macintosh PowerPoint</Application>
  <PresentationFormat>Presentación en pantalla (16:9)</PresentationFormat>
  <Paragraphs>252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Viva Consulting Empresas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Viva Consulting Empresas</dc:creator>
  <cp:lastModifiedBy>Luis Vallejos</cp:lastModifiedBy>
  <cp:revision>2</cp:revision>
  <dcterms:created xsi:type="dcterms:W3CDTF">2026-08-11T20:41:18Z</dcterms:created>
  <dcterms:modified xsi:type="dcterms:W3CDTF">2026-08-11T20:43:47Z</dcterms:modified>
</cp:coreProperties>
</file>